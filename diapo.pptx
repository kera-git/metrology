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46F604-7D77-4480-BD62-86CB7279DB76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827DED-8992-4C87-94CD-4FAA74213029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2918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F604-7D77-4480-BD62-86CB7279DB76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FF827DED-8992-4C87-94CD-4FAA74213029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3016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46F604-7D77-4480-BD62-86CB7279DB76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827DED-8992-4C87-94CD-4FAA74213029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8651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F604-7D77-4480-BD62-86CB7279DB76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7DED-8992-4C87-94CD-4FAA74213029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873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F604-7D77-4480-BD62-86CB7279DB76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7DED-8992-4C87-94CD-4FAA74213029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3723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F604-7D77-4480-BD62-86CB7279DB76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7DED-8992-4C87-94CD-4FAA74213029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018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F604-7D77-4480-BD62-86CB7279DB76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7DED-8992-4C87-94CD-4FAA74213029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7480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46F604-7D77-4480-BD62-86CB7279DB76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827DED-8992-4C87-94CD-4FAA74213029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076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F604-7D77-4480-BD62-86CB7279DB76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7DED-8992-4C87-94CD-4FAA74213029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0596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F604-7D77-4480-BD62-86CB7279DB76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27DED-8992-4C87-94CD-4FAA74213029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6797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46F604-7D77-4480-BD62-86CB7279DB76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827DED-8992-4C87-94CD-4FAA74213029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317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846F604-7D77-4480-BD62-86CB7279DB76}" type="datetimeFigureOut">
              <a:rPr lang="fr-FR" smtClean="0"/>
              <a:t>25/11/2025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F827DED-8992-4C87-94CD-4FAA74213029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757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rc partiel 49">
            <a:extLst>
              <a:ext uri="{FF2B5EF4-FFF2-40B4-BE49-F238E27FC236}">
                <a16:creationId xmlns:a16="http://schemas.microsoft.com/office/drawing/2014/main" id="{4DC21DB7-711B-005F-5EE5-6647A7CF5E56}"/>
              </a:ext>
            </a:extLst>
          </p:cNvPr>
          <p:cNvSpPr/>
          <p:nvPr/>
        </p:nvSpPr>
        <p:spPr>
          <a:xfrm>
            <a:off x="4291196" y="2092005"/>
            <a:ext cx="1181869" cy="652592"/>
          </a:xfrm>
          <a:prstGeom prst="pie">
            <a:avLst>
              <a:gd name="adj1" fmla="val 20082898"/>
              <a:gd name="adj2" fmla="val 21567557"/>
            </a:avLst>
          </a:prstGeom>
          <a:noFill/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F91F198-AE5C-2FEF-58AE-B153892754F2}"/>
              </a:ext>
            </a:extLst>
          </p:cNvPr>
          <p:cNvSpPr/>
          <p:nvPr/>
        </p:nvSpPr>
        <p:spPr>
          <a:xfrm>
            <a:off x="6597778" y="2772358"/>
            <a:ext cx="1011660" cy="598079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CA6FAF-90AE-06D0-4EAF-398AFECA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41832"/>
            <a:ext cx="11029616" cy="510982"/>
          </a:xfrm>
        </p:spPr>
        <p:txBody>
          <a:bodyPr>
            <a:normAutofit fontScale="90000"/>
          </a:bodyPr>
          <a:lstStyle/>
          <a:p>
            <a:pPr algn="ctr"/>
            <a:r>
              <a:rPr lang="en-US" noProof="0" dirty="0"/>
              <a:t>Problem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1BF74A1C-F3AA-F4E1-EC9B-50B8685E0C1E}"/>
                  </a:ext>
                </a:extLst>
              </p:cNvPr>
              <p:cNvSpPr txBox="1"/>
              <p:nvPr/>
            </p:nvSpPr>
            <p:spPr>
              <a:xfrm>
                <a:off x="260522" y="2329335"/>
                <a:ext cx="3478432" cy="2046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u="sng" noProof="0" dirty="0">
                    <a:solidFill>
                      <a:schemeClr val="accent1"/>
                    </a:solidFill>
                  </a:rPr>
                  <a:t>Physical Assumptions:</a:t>
                </a:r>
              </a:p>
              <a:p>
                <a:endParaRPr lang="en-US" sz="1400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noProof="0" dirty="0"/>
                  <a:t>No interaction between particles…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noProof="0" dirty="0">
                    <a:solidFill>
                      <a:srgbClr val="C00000"/>
                    </a:solidFill>
                  </a:rPr>
                  <a:t>No interaction with environment &amp; </a:t>
                </a:r>
              </a:p>
              <a:p>
                <a:r>
                  <a:rPr lang="en-US" sz="1400" noProof="0" dirty="0">
                    <a:solidFill>
                      <a:srgbClr val="C00000"/>
                    </a:solidFill>
                  </a:rPr>
                  <a:t>      particles not affected by measurement.</a:t>
                </a: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:r>
                  <a:rPr lang="en-US" sz="1400" noProof="0" dirty="0"/>
                  <a:t>Constant velocity</a:t>
                </a: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:endParaRPr lang="en-US" sz="1400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noProof="0" dirty="0">
                    <a:solidFill>
                      <a:srgbClr val="C00000"/>
                    </a:solidFill>
                  </a:rPr>
                  <a:t>Don’t take account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1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1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b="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400" noProof="0" dirty="0"/>
              </a:p>
              <a:p>
                <a:endParaRPr lang="en-US" sz="1500" noProof="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1BF74A1C-F3AA-F4E1-EC9B-50B8685E0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22" y="2329335"/>
                <a:ext cx="3478432" cy="2046714"/>
              </a:xfrm>
              <a:prstGeom prst="rect">
                <a:avLst/>
              </a:prstGeom>
              <a:blipFill>
                <a:blip r:embed="rId2"/>
                <a:stretch>
                  <a:fillRect l="-526" t="-5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87BA6CF-1F31-459E-8A76-FF9239C2F6DA}"/>
                  </a:ext>
                </a:extLst>
              </p:cNvPr>
              <p:cNvSpPr txBox="1"/>
              <p:nvPr/>
            </p:nvSpPr>
            <p:spPr>
              <a:xfrm>
                <a:off x="8350989" y="2300642"/>
                <a:ext cx="3472809" cy="2277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u="sng" noProof="0" dirty="0">
                    <a:solidFill>
                      <a:schemeClr val="accent1"/>
                    </a:solidFill>
                  </a:rPr>
                  <a:t>Notations :</a:t>
                </a:r>
              </a:p>
              <a:p>
                <a:endParaRPr lang="en-US" sz="1400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noProof="0" dirty="0"/>
                  <a:t>Sampling Volume (</a:t>
                </a:r>
                <a:r>
                  <a:rPr lang="en-US" sz="1400" noProof="0" dirty="0">
                    <a:solidFill>
                      <a:schemeClr val="accent2"/>
                    </a:solidFill>
                  </a:rPr>
                  <a:t>rectangular box</a:t>
                </a:r>
                <a:r>
                  <a:rPr lang="en-US" sz="1400" noProof="0" dirty="0"/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 ; </m:t>
                    </m:r>
                    <m:func>
                      <m:funcPr>
                        <m:ctrlPr>
                          <a:rPr lang="en-US" sz="1400" b="0" i="1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 b="0" i="0" noProof="0" smtClean="0"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: </m:t>
                        </m:r>
                      </m:e>
                    </m:func>
                    <m:d>
                      <m:dPr>
                        <m:ctrlPr>
                          <a:rPr lang="en-US" sz="1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 ;</m:t>
                    </m:r>
                    <m:sSub>
                      <m:sSubPr>
                        <m:ctrlPr>
                          <a:rPr lang="en-US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 ; </m:t>
                    </m:r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𝑝𝑜𝑠</m:t>
                    </m:r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:(</m:t>
                    </m:r>
                    <m:sSub>
                      <m:sSubPr>
                        <m:ctrlPr>
                          <a:rPr lang="en-US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endParaRPr lang="en-US" sz="1400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noProof="0" dirty="0"/>
                  <a:t>Generator (</a:t>
                </a:r>
                <a:r>
                  <a:rPr lang="en-US" sz="1400" noProof="0" dirty="0">
                    <a:solidFill>
                      <a:schemeClr val="accent2"/>
                    </a:solidFill>
                  </a:rPr>
                  <a:t>disc</a:t>
                </a:r>
                <a:r>
                  <a:rPr lang="en-US" sz="1400" noProof="0" dirty="0"/>
                  <a:t>) : </a:t>
                </a:r>
                <a14:m>
                  <m:oMath xmlns:m="http://schemas.openxmlformats.org/officeDocument/2006/math">
                    <m:r>
                      <a:rPr lang="en-US" sz="1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</m:t>
                    </m:r>
                    <m:r>
                      <a:rPr lang="en-US" sz="1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1400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noProof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400" noProof="0" dirty="0"/>
                  <a:t> denotes the i-th particle ;</a:t>
                </a:r>
                <a14:m>
                  <m:oMath xmlns:m="http://schemas.openxmlformats.org/officeDocument/2006/math">
                    <m:r>
                      <a:rPr lang="en-US" sz="1400" b="0" i="0" noProof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noProof="0" dirty="0"/>
                  <a:t> its emission time (s)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noProof="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87BA6CF-1F31-459E-8A76-FF9239C2F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989" y="2300642"/>
                <a:ext cx="3472809" cy="2277547"/>
              </a:xfrm>
              <a:prstGeom prst="rect">
                <a:avLst/>
              </a:prstGeom>
              <a:blipFill>
                <a:blip r:embed="rId3"/>
                <a:stretch>
                  <a:fillRect l="-526" t="-2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E51B67C9-0086-BE34-F05A-EE949421EEE9}"/>
              </a:ext>
            </a:extLst>
          </p:cNvPr>
          <p:cNvSpPr/>
          <p:nvPr/>
        </p:nvSpPr>
        <p:spPr>
          <a:xfrm>
            <a:off x="3741526" y="2404227"/>
            <a:ext cx="1124713" cy="16824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F1497315-F310-6F25-16E9-CB149E5CCB08}"/>
              </a:ext>
            </a:extLst>
          </p:cNvPr>
          <p:cNvCxnSpPr/>
          <p:nvPr/>
        </p:nvCxnSpPr>
        <p:spPr>
          <a:xfrm flipV="1">
            <a:off x="4866238" y="2193915"/>
            <a:ext cx="0" cy="202996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6421791E-5B11-1854-5698-FF4857E5959D}"/>
              </a:ext>
            </a:extLst>
          </p:cNvPr>
          <p:cNvCxnSpPr>
            <a:cxnSpLocks/>
          </p:cNvCxnSpPr>
          <p:nvPr/>
        </p:nvCxnSpPr>
        <p:spPr>
          <a:xfrm>
            <a:off x="4882131" y="3232422"/>
            <a:ext cx="297180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rganigramme : Jonction de sommaire 22">
            <a:extLst>
              <a:ext uri="{FF2B5EF4-FFF2-40B4-BE49-F238E27FC236}">
                <a16:creationId xmlns:a16="http://schemas.microsoft.com/office/drawing/2014/main" id="{18E7DF9E-5E66-0605-3155-6AFDACAC5C6F}"/>
              </a:ext>
            </a:extLst>
          </p:cNvPr>
          <p:cNvSpPr/>
          <p:nvPr/>
        </p:nvSpPr>
        <p:spPr>
          <a:xfrm>
            <a:off x="4715363" y="3124736"/>
            <a:ext cx="301747" cy="241478"/>
          </a:xfrm>
          <a:prstGeom prst="flowChartSummingJuncti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80B474E-B7F2-0FF0-3419-770A3A0AD73D}"/>
              </a:ext>
            </a:extLst>
          </p:cNvPr>
          <p:cNvSpPr txBox="1"/>
          <p:nvPr/>
        </p:nvSpPr>
        <p:spPr>
          <a:xfrm>
            <a:off x="7609438" y="3235409"/>
            <a:ext cx="301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 dirty="0"/>
              <a:t>x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A96F512-5964-F672-A36C-EC94770EA0A3}"/>
              </a:ext>
            </a:extLst>
          </p:cNvPr>
          <p:cNvSpPr txBox="1"/>
          <p:nvPr/>
        </p:nvSpPr>
        <p:spPr>
          <a:xfrm>
            <a:off x="4852518" y="2117646"/>
            <a:ext cx="3017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 dirty="0"/>
              <a:t>z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AA18E96-633F-BCB3-0F4D-F5D484BC8671}"/>
              </a:ext>
            </a:extLst>
          </p:cNvPr>
          <p:cNvSpPr txBox="1"/>
          <p:nvPr/>
        </p:nvSpPr>
        <p:spPr>
          <a:xfrm>
            <a:off x="4614766" y="3270447"/>
            <a:ext cx="301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 dirty="0"/>
              <a:t>y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7AD4B5A-6782-AAF8-5A95-2155504EA30F}"/>
              </a:ext>
            </a:extLst>
          </p:cNvPr>
          <p:cNvSpPr txBox="1"/>
          <p:nvPr/>
        </p:nvSpPr>
        <p:spPr>
          <a:xfrm>
            <a:off x="3848967" y="2490386"/>
            <a:ext cx="909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noProof="0" dirty="0">
                <a:solidFill>
                  <a:schemeClr val="bg1"/>
                </a:solidFill>
              </a:rPr>
              <a:t>Generator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3ABF2B48-6840-1756-E979-9A55B128EC4C}"/>
              </a:ext>
            </a:extLst>
          </p:cNvPr>
          <p:cNvSpPr/>
          <p:nvPr/>
        </p:nvSpPr>
        <p:spPr>
          <a:xfrm>
            <a:off x="5062827" y="3022425"/>
            <a:ext cx="114308" cy="13547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1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9C61A65-F01B-D701-C876-F148D9CE0CD0}"/>
              </a:ext>
            </a:extLst>
          </p:cNvPr>
          <p:cNvSpPr/>
          <p:nvPr/>
        </p:nvSpPr>
        <p:spPr>
          <a:xfrm>
            <a:off x="6175983" y="2530277"/>
            <a:ext cx="114308" cy="13547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3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D896FF6D-7BCA-63CB-46D8-56E5EDE5AA8A}"/>
              </a:ext>
            </a:extLst>
          </p:cNvPr>
          <p:cNvSpPr/>
          <p:nvPr/>
        </p:nvSpPr>
        <p:spPr>
          <a:xfrm>
            <a:off x="5363297" y="3571203"/>
            <a:ext cx="114308" cy="13547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2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2395B899-A2BB-C22B-11E5-630548EF59DA}"/>
              </a:ext>
            </a:extLst>
          </p:cNvPr>
          <p:cNvSpPr/>
          <p:nvPr/>
        </p:nvSpPr>
        <p:spPr>
          <a:xfrm>
            <a:off x="7010377" y="2799627"/>
            <a:ext cx="114308" cy="13547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6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A7A9D4D3-BC74-AD80-BF6E-4007F63E3019}"/>
              </a:ext>
            </a:extLst>
          </p:cNvPr>
          <p:cNvSpPr/>
          <p:nvPr/>
        </p:nvSpPr>
        <p:spPr>
          <a:xfrm>
            <a:off x="5647982" y="2744629"/>
            <a:ext cx="114308" cy="13547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4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F0DACCA4-A605-512C-4257-6ABACB7F0684}"/>
              </a:ext>
            </a:extLst>
          </p:cNvPr>
          <p:cNvSpPr/>
          <p:nvPr/>
        </p:nvSpPr>
        <p:spPr>
          <a:xfrm>
            <a:off x="5933797" y="3390965"/>
            <a:ext cx="114308" cy="13547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5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40D5FF3A-BD91-E5DF-1155-223CD5564FEE}"/>
              </a:ext>
            </a:extLst>
          </p:cNvPr>
          <p:cNvSpPr/>
          <p:nvPr/>
        </p:nvSpPr>
        <p:spPr>
          <a:xfrm>
            <a:off x="6740621" y="3610849"/>
            <a:ext cx="114308" cy="13547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7</a:t>
            </a:r>
          </a:p>
        </p:txBody>
      </p: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269DF1E7-1F42-8235-167E-A5EED318C5C6}"/>
              </a:ext>
            </a:extLst>
          </p:cNvPr>
          <p:cNvCxnSpPr/>
          <p:nvPr/>
        </p:nvCxnSpPr>
        <p:spPr>
          <a:xfrm>
            <a:off x="7906603" y="2780857"/>
            <a:ext cx="0" cy="6186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03560807-824A-E0FB-2E9B-CD3CC1708146}"/>
              </a:ext>
            </a:extLst>
          </p:cNvPr>
          <p:cNvCxnSpPr>
            <a:cxnSpLocks/>
          </p:cNvCxnSpPr>
          <p:nvPr/>
        </p:nvCxnSpPr>
        <p:spPr>
          <a:xfrm flipH="1">
            <a:off x="6561701" y="4086723"/>
            <a:ext cx="104773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1118A41A-13AA-D8CF-F7BA-2ED8E2A42ADE}"/>
              </a:ext>
            </a:extLst>
          </p:cNvPr>
          <p:cNvSpPr txBox="1"/>
          <p:nvPr/>
        </p:nvSpPr>
        <p:spPr>
          <a:xfrm>
            <a:off x="6940153" y="4011622"/>
            <a:ext cx="326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 dirty="0">
                <a:solidFill>
                  <a:schemeClr val="accent5"/>
                </a:solidFill>
              </a:rPr>
              <a:t>w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C7D09C5B-586E-18EA-38EC-F7DF52E920FC}"/>
              </a:ext>
            </a:extLst>
          </p:cNvPr>
          <p:cNvSpPr txBox="1"/>
          <p:nvPr/>
        </p:nvSpPr>
        <p:spPr>
          <a:xfrm>
            <a:off x="7858582" y="2935100"/>
            <a:ext cx="326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 dirty="0">
                <a:solidFill>
                  <a:schemeClr val="accent5"/>
                </a:solidFill>
              </a:rPr>
              <a:t>h</a:t>
            </a:r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C5872CE4-C29D-0E41-4626-46F0362E5485}"/>
              </a:ext>
            </a:extLst>
          </p:cNvPr>
          <p:cNvCxnSpPr>
            <a:endCxn id="11" idx="1"/>
          </p:cNvCxnSpPr>
          <p:nvPr/>
        </p:nvCxnSpPr>
        <p:spPr>
          <a:xfrm>
            <a:off x="3741526" y="2404227"/>
            <a:ext cx="0" cy="8412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D4C72221-C327-271C-C39E-2DCA6EC70375}"/>
              </a:ext>
            </a:extLst>
          </p:cNvPr>
          <p:cNvSpPr txBox="1"/>
          <p:nvPr/>
        </p:nvSpPr>
        <p:spPr>
          <a:xfrm>
            <a:off x="3567790" y="2665750"/>
            <a:ext cx="1578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noProof="0" dirty="0">
                <a:solidFill>
                  <a:schemeClr val="accent4"/>
                </a:solidFill>
              </a:rPr>
              <a:t>r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9478D7E8-5F68-2C4C-F8C9-3D331C68B0F2}"/>
              </a:ext>
            </a:extLst>
          </p:cNvPr>
          <p:cNvCxnSpPr>
            <a:cxnSpLocks/>
          </p:cNvCxnSpPr>
          <p:nvPr/>
        </p:nvCxnSpPr>
        <p:spPr>
          <a:xfrm flipV="1">
            <a:off x="4871384" y="1961380"/>
            <a:ext cx="935889" cy="448242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2D05C30F-C4C4-648E-1455-E6829CA52CD7}"/>
              </a:ext>
            </a:extLst>
          </p:cNvPr>
          <p:cNvCxnSpPr>
            <a:cxnSpLocks/>
          </p:cNvCxnSpPr>
          <p:nvPr/>
        </p:nvCxnSpPr>
        <p:spPr>
          <a:xfrm>
            <a:off x="4887762" y="4055223"/>
            <a:ext cx="809784" cy="365909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6CB7255F-EA7F-FB47-9EAB-3BB9C584C2AE}"/>
                  </a:ext>
                </a:extLst>
              </p:cNvPr>
              <p:cNvSpPr txBox="1"/>
              <p:nvPr/>
            </p:nvSpPr>
            <p:spPr>
              <a:xfrm>
                <a:off x="5061036" y="2184822"/>
                <a:ext cx="44731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noProof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0" noProof="0" dirty="0">
                  <a:solidFill>
                    <a:schemeClr val="accent4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6CB7255F-EA7F-FB47-9EAB-3BB9C584C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036" y="2184822"/>
                <a:ext cx="447315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>
            <a:extLst>
              <a:ext uri="{FF2B5EF4-FFF2-40B4-BE49-F238E27FC236}">
                <a16:creationId xmlns:a16="http://schemas.microsoft.com/office/drawing/2014/main" id="{E73D4ADB-3DB2-DEDF-CEC3-FF4CA603B4F6}"/>
              </a:ext>
            </a:extLst>
          </p:cNvPr>
          <p:cNvSpPr/>
          <p:nvPr/>
        </p:nvSpPr>
        <p:spPr>
          <a:xfrm>
            <a:off x="458724" y="4609391"/>
            <a:ext cx="11274551" cy="103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id="{56979764-2884-762C-7256-BAD5395184AD}"/>
                  </a:ext>
                </a:extLst>
              </p:cNvPr>
              <p:cNvSpPr txBox="1"/>
              <p:nvPr/>
            </p:nvSpPr>
            <p:spPr>
              <a:xfrm>
                <a:off x="266466" y="4735250"/>
                <a:ext cx="11563277" cy="9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u="sng" noProof="0" dirty="0">
                    <a:solidFill>
                      <a:schemeClr val="accent1"/>
                    </a:solidFill>
                  </a:rPr>
                  <a:t>Mathematical framework</a:t>
                </a:r>
                <a:r>
                  <a:rPr lang="en-US" sz="1600" b="1" u="sng" noProof="0" dirty="0">
                    <a:solidFill>
                      <a:schemeClr val="accent1"/>
                    </a:solidFill>
                  </a:rPr>
                  <a:t> : </a:t>
                </a:r>
              </a:p>
              <a:p>
                <a:r>
                  <a:rPr lang="en-US" sz="1600" noProof="0" dirty="0"/>
                  <a:t> Let’s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noProof="0" dirty="0"/>
                  <a:t> i.i.d of mean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600" noProof="0" dirty="0"/>
                  <a:t> such as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1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noProof="0" dirty="0"/>
                  <a:t> 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( 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0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noProof="0" dirty="0"/>
                  <a:t>i.i.d too.  Finally, let’s define : </a:t>
                </a:r>
                <a14:m>
                  <m:oMath xmlns:m="http://schemas.openxmlformats.org/officeDocument/2006/math"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den>
                    </m:f>
                  </m:oMath>
                </a14:m>
                <a:r>
                  <a:rPr lang="en-US" sz="1600" b="1" noProof="0" dirty="0"/>
                  <a:t> </a:t>
                </a:r>
                <a:r>
                  <a:rPr lang="en-US" sz="1600" noProof="0" dirty="0"/>
                  <a:t>the emission rate (part/s).</a:t>
                </a:r>
              </a:p>
              <a:p>
                <a:pPr algn="ctr"/>
                <a:r>
                  <a:rPr lang="en-US" sz="1600" b="1" noProof="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en-US" sz="1600" b="1" noProof="0" dirty="0">
                    <a:solidFill>
                      <a:schemeClr val="accent6">
                        <a:lumMod val="50000"/>
                      </a:schemeClr>
                    </a:solidFill>
                  </a:rPr>
                  <a:t>Goal : estimate r or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sz="1600" b="1" noProof="0" dirty="0">
                    <a:solidFill>
                      <a:schemeClr val="accent6">
                        <a:lumMod val="50000"/>
                      </a:schemeClr>
                    </a:solidFill>
                  </a:rPr>
                  <a:t> .</a:t>
                </a:r>
              </a:p>
            </p:txBody>
          </p:sp>
        </mc:Choice>
        <mc:Fallback xmlns=""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id="{56979764-2884-762C-7256-BAD539518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66" y="4735250"/>
                <a:ext cx="11563277" cy="961610"/>
              </a:xfrm>
              <a:prstGeom prst="rect">
                <a:avLst/>
              </a:prstGeom>
              <a:blipFill>
                <a:blip r:embed="rId5"/>
                <a:stretch>
                  <a:fillRect l="-316" t="-1899" b="-44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690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37F142-B694-F85F-1E67-F1E99AAE6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37050"/>
            <a:ext cx="11029616" cy="988332"/>
          </a:xfrm>
        </p:spPr>
        <p:txBody>
          <a:bodyPr/>
          <a:lstStyle/>
          <a:p>
            <a:pPr algn="ctr"/>
            <a:r>
              <a:rPr lang="en-US" noProof="0" dirty="0"/>
              <a:t>Approach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88D221F-222E-5876-7E98-9A16770FBAE6}"/>
              </a:ext>
            </a:extLst>
          </p:cNvPr>
          <p:cNvSpPr txBox="1"/>
          <p:nvPr/>
        </p:nvSpPr>
        <p:spPr>
          <a:xfrm>
            <a:off x="581192" y="1883664"/>
            <a:ext cx="107259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noProof="0" dirty="0"/>
              <a:t>Initial step</a:t>
            </a:r>
            <a:r>
              <a:rPr lang="en-US" sz="1600" noProof="0" dirty="0"/>
              <a:t>:  set up a numerical simulation (python) : try 3D visualization -&gt; move backward to a 2D visualization.</a:t>
            </a:r>
          </a:p>
          <a:p>
            <a:r>
              <a:rPr lang="en-US" sz="1600" b="1" u="sng" noProof="0" dirty="0"/>
              <a:t>Protocol</a:t>
            </a:r>
            <a:r>
              <a:rPr lang="en-US" sz="1600" noProof="0" dirty="0"/>
              <a:t>: </a:t>
            </a:r>
          </a:p>
          <a:p>
            <a:r>
              <a:rPr lang="en-US" sz="1600" noProof="0" dirty="0"/>
              <a:t>	-&gt;  find / design an unbiased estimator (by myself or/and using scientific literature) </a:t>
            </a:r>
          </a:p>
          <a:p>
            <a:r>
              <a:rPr lang="en-US" sz="1600" noProof="0" dirty="0"/>
              <a:t>	-&gt; analyze with the simulation, then theoretically ( MSE, consistency, asymptotical behavior, confidence region)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ACAFDA-B01C-AEA5-1318-8F63703DD468}"/>
              </a:ext>
            </a:extLst>
          </p:cNvPr>
          <p:cNvSpPr/>
          <p:nvPr/>
        </p:nvSpPr>
        <p:spPr>
          <a:xfrm>
            <a:off x="426720" y="2991660"/>
            <a:ext cx="11338560" cy="1005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7913859-96AF-310A-AAA4-922D33763B9A}"/>
              </a:ext>
            </a:extLst>
          </p:cNvPr>
          <p:cNvSpPr txBox="1"/>
          <p:nvPr/>
        </p:nvSpPr>
        <p:spPr>
          <a:xfrm>
            <a:off x="426720" y="3092244"/>
            <a:ext cx="11184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</a:rPr>
              <a:t>ISSUE : </a:t>
            </a:r>
            <a:r>
              <a:rPr lang="en-US" sz="1500" noProof="0" dirty="0"/>
              <a:t>Didn’t achieve to design an </a:t>
            </a:r>
            <a:r>
              <a:rPr lang="en-US" sz="1500" u="sng" noProof="0" dirty="0"/>
              <a:t>unbiased</a:t>
            </a:r>
            <a:r>
              <a:rPr lang="en-US" sz="1500" noProof="0" dirty="0"/>
              <a:t> estimator</a:t>
            </a:r>
            <a:endParaRPr lang="en-US" b="1" noProof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3AEBD00D-B3B2-13A9-9D18-FB9E709549DB}"/>
                  </a:ext>
                </a:extLst>
              </p:cNvPr>
              <p:cNvSpPr txBox="1"/>
              <p:nvPr/>
            </p:nvSpPr>
            <p:spPr>
              <a:xfrm>
                <a:off x="155448" y="3461576"/>
                <a:ext cx="22494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u="sng" dirty="0"/>
                  <a:t>Idea 1 </a:t>
                </a:r>
                <a:r>
                  <a:rPr lang="fr-FR" dirty="0"/>
                  <a:t>: use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3AEBD00D-B3B2-13A9-9D18-FB9E70954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" y="3461576"/>
                <a:ext cx="2249424" cy="369332"/>
              </a:xfrm>
              <a:prstGeom prst="rect">
                <a:avLst/>
              </a:prstGeom>
              <a:blipFill>
                <a:blip r:embed="rId2"/>
                <a:stretch>
                  <a:fillRect l="-2439" t="-10000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 8">
            <a:extLst>
              <a:ext uri="{FF2B5EF4-FFF2-40B4-BE49-F238E27FC236}">
                <a16:creationId xmlns:a16="http://schemas.microsoft.com/office/drawing/2014/main" id="{1F6FF849-CB2B-299B-6A8A-C529123FC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3826746"/>
            <a:ext cx="2609088" cy="191277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D1CEA21-5CB7-DE4C-AA2D-BA5C73F2F4A5}"/>
              </a:ext>
            </a:extLst>
          </p:cNvPr>
          <p:cNvSpPr txBox="1"/>
          <p:nvPr/>
        </p:nvSpPr>
        <p:spPr>
          <a:xfrm>
            <a:off x="155448" y="5824728"/>
            <a:ext cx="276148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/>
              <a:t>…not </a:t>
            </a:r>
            <a:r>
              <a:rPr lang="fr-FR" sz="1300" dirty="0" err="1"/>
              <a:t>precise</a:t>
            </a:r>
            <a:r>
              <a:rPr lang="fr-FR" sz="1300" dirty="0"/>
              <a:t> and </a:t>
            </a:r>
            <a:r>
              <a:rPr lang="fr-FR" sz="1300" dirty="0" err="1"/>
              <a:t>difficult</a:t>
            </a:r>
            <a:r>
              <a:rPr lang="fr-FR" sz="1300" dirty="0"/>
              <a:t> to </a:t>
            </a:r>
            <a:r>
              <a:rPr lang="fr-FR" sz="1300" dirty="0" err="1"/>
              <a:t>compute</a:t>
            </a:r>
            <a:endParaRPr lang="en-US" sz="13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592843-E9B6-5FE9-0FB7-A968B85CC6F2}"/>
              </a:ext>
            </a:extLst>
          </p:cNvPr>
          <p:cNvSpPr/>
          <p:nvPr/>
        </p:nvSpPr>
        <p:spPr>
          <a:xfrm>
            <a:off x="3163824" y="5175504"/>
            <a:ext cx="45719" cy="124544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A6BB1B-E951-5142-B529-ED0730E6EEA2}"/>
              </a:ext>
            </a:extLst>
          </p:cNvPr>
          <p:cNvSpPr/>
          <p:nvPr/>
        </p:nvSpPr>
        <p:spPr>
          <a:xfrm>
            <a:off x="3163824" y="3814688"/>
            <a:ext cx="45719" cy="124544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392C79B1-FBD6-5644-1D6F-15631DDAAF66}"/>
                  </a:ext>
                </a:extLst>
              </p:cNvPr>
              <p:cNvSpPr txBox="1"/>
              <p:nvPr/>
            </p:nvSpPr>
            <p:spPr>
              <a:xfrm>
                <a:off x="3392423" y="3444270"/>
                <a:ext cx="31912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u="sng" dirty="0"/>
                  <a:t>Idea 2 </a:t>
                </a:r>
                <a:r>
                  <a:rPr lang="fr-FR" dirty="0"/>
                  <a:t>: use </a:t>
                </a:r>
                <a:r>
                  <a:rPr lang="fr-FR" dirty="0" err="1"/>
                  <a:t>Little’s</a:t>
                </a:r>
                <a:r>
                  <a:rPr lang="fr-FR" dirty="0"/>
                  <a:t> </a:t>
                </a:r>
                <a:r>
                  <a:rPr lang="fr-FR" dirty="0" err="1"/>
                  <a:t>law</a:t>
                </a:r>
                <a:r>
                  <a:rPr lang="fr-FR" dirty="0"/>
                  <a:t> :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392C79B1-FBD6-5644-1D6F-15631DDAA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423" y="3444270"/>
                <a:ext cx="3191257" cy="369332"/>
              </a:xfrm>
              <a:prstGeom prst="rect">
                <a:avLst/>
              </a:prstGeom>
              <a:blipFill>
                <a:blip r:embed="rId4"/>
                <a:stretch>
                  <a:fillRect l="-1527" t="-8197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 14">
            <a:extLst>
              <a:ext uri="{FF2B5EF4-FFF2-40B4-BE49-F238E27FC236}">
                <a16:creationId xmlns:a16="http://schemas.microsoft.com/office/drawing/2014/main" id="{DEA63B9D-C021-7E8E-8080-9C60E5315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826746"/>
            <a:ext cx="3507498" cy="259420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C6A8740-C70E-0AFF-714D-E877A1C832B5}"/>
              </a:ext>
            </a:extLst>
          </p:cNvPr>
          <p:cNvSpPr/>
          <p:nvPr/>
        </p:nvSpPr>
        <p:spPr>
          <a:xfrm>
            <a:off x="7059943" y="5174418"/>
            <a:ext cx="45719" cy="124544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E928A7-4333-DD66-B0E1-A1262501BF46}"/>
              </a:ext>
            </a:extLst>
          </p:cNvPr>
          <p:cNvSpPr/>
          <p:nvPr/>
        </p:nvSpPr>
        <p:spPr>
          <a:xfrm>
            <a:off x="7059943" y="3813602"/>
            <a:ext cx="45719" cy="124544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28D45B5-DCF0-EF78-8F91-B9AFBE76EA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7200" y="4006549"/>
            <a:ext cx="3090673" cy="23357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A0637C83-FE12-E5FD-0007-C24F36C50BCA}"/>
                  </a:ext>
                </a:extLst>
              </p:cNvPr>
              <p:cNvSpPr txBox="1"/>
              <p:nvPr/>
            </p:nvSpPr>
            <p:spPr>
              <a:xfrm>
                <a:off x="7697460" y="3377486"/>
                <a:ext cx="3690152" cy="520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Idea 3 :</a:t>
                </a:r>
                <a:r>
                  <a:rPr lang="en-US" dirty="0"/>
                  <a:t> Estimate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</m:oMath>
                </a14:m>
                <a:endParaRPr lang="en-US" u="sng" dirty="0"/>
              </a:p>
            </p:txBody>
          </p:sp>
        </mc:Choice>
        <mc:Fallback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A0637C83-FE12-E5FD-0007-C24F36C50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460" y="3377486"/>
                <a:ext cx="3690152" cy="520207"/>
              </a:xfrm>
              <a:prstGeom prst="rect">
                <a:avLst/>
              </a:prstGeom>
              <a:blipFill>
                <a:blip r:embed="rId7"/>
                <a:stretch>
                  <a:fillRect l="-1488" b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079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TM03457464[[fn=Dividende]]</Template>
  <TotalTime>206</TotalTime>
  <Words>251</Words>
  <Application>Microsoft Office PowerPoint</Application>
  <PresentationFormat>Grand écran</PresentationFormat>
  <Paragraphs>44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Arial</vt:lpstr>
      <vt:lpstr>Cambria Math</vt:lpstr>
      <vt:lpstr>Gill Sans MT</vt:lpstr>
      <vt:lpstr>Symbol</vt:lpstr>
      <vt:lpstr>Wingdings 2</vt:lpstr>
      <vt:lpstr>Dividende</vt:lpstr>
      <vt:lpstr>Problem Setup</vt:lpstr>
      <vt:lpstr>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Baudouin--Kervarec Adrien (M.)</dc:creator>
  <cp:lastModifiedBy>Baudouin--Kervarec Adrien (M.)</cp:lastModifiedBy>
  <cp:revision>3</cp:revision>
  <dcterms:created xsi:type="dcterms:W3CDTF">2025-11-24T18:58:01Z</dcterms:created>
  <dcterms:modified xsi:type="dcterms:W3CDTF">2025-11-25T08:48:38Z</dcterms:modified>
</cp:coreProperties>
</file>